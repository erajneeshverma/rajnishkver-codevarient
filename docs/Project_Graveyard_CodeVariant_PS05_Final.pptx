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2652771e-8e10-14d8-78e7-25f90c52bee2}">
          <p14:sldIdLst>
            <p14:sldId id="256"/>
            <p14:sldId id="257"/>
          </p14:sldIdLst>
        </p14:section>
        <p14:section name="The product" id="{65a67409-34a2-957e-3e61-e79433d9a7b2}">
          <p14:sldIdLst>
            <p14:sldId id="258"/>
            <p14:sldId id="259"/>
            <p14:sldId id="260"/>
          </p14:sldIdLst>
        </p14:section>
        <p14:section name="The Variant Factor" id="{afd4c9ee-50b8-54cd-eb38-26ba7e36fc56}">
          <p14:sldIdLst>
            <p14:sldId id="261"/>
            <p14:sldId id="262"/>
            <p14:sldId id="263"/>
            <p14:sldId id="264"/>
          </p14:sldIdLst>
        </p14:section>
        <p14:section name="Engineering" id="{90cbc640-bcff-04d5-2629-a24c14568a8b}">
          <p14:sldIdLst>
            <p14:sldId id="265"/>
            <p14:sldId id="266"/>
            <p14:sldId id="267"/>
          </p14:sldIdLst>
        </p14:section>
        <p14:section name="Close" id="{0116fa1b-9547-518e-8f84-c3fe6de78285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Hi, I’m Rajnish. The Project Graveyard is a place for every project you started and didn’t finish: it records why it stopped and gives an honest, explained answer about what to do with it next. Everything I show is live at the URL on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Here’s what exists right now, live: six screens, every primary action done by drag and drop, 31 automated tests, and zero accessibility violations on every page in both themes.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builder has a folder of half-finished projects. The code is safe on GitHub. What’s lost is the context and the decision, so today people only ever ignore or delete.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Burying takes three short steps. GitHub import fills the boring fields from a public repo. The last step is a drag: the live tombstone goes into the grave.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advisor turns each project into six signals and runs weighted rules over them. Every point comes with the sentence you see. Drag the project onto the path you choose.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 hour six the rules changed: no standard buttons for primary actions. The first converted screen shipped sixteen minutes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every primary action, before and after. Each one is now a card dropped into a zone, and every destructive one has undo.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didn’t just swap buttons for zones. The home screen became a real canvas: a graveyard field you arrange, with six themed zones around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Drag and drop is usually where accessibility breaks. Here it works with the keyboard, is announced to screen readers, works with touch, and every destructive drop can be undone.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few things beyond the brief: insights across your whole graveyard, post-mortem export, a salvage yard of reusable parts, reminders and GitHub import.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Architecture: config drives the rules, a pure engine scores them, the store keeps everything in the browser, and one canvas layer handles every drag. That separation is why the twist was fast.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timeline: first release at 13:24, hardened by two reviews, twist at 18:00, all actions converted by 18:28, and the full canvas by 19:24.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you. Every abandoned project deserves a second look, and the app is live for you to try right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417320"/>
            <a:ext cx="78638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ctr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1097280" y="2286000"/>
            <a:ext cx="69494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500" dirty="0">
                <a:solidFill>
                  <a:schemeClr val="bg2"/>
                </a:solidFill>
              </a:defRPr>
            </a:lvl1pPr>
          </a:lstStyle>
          <a:p>
            <a:pPr algn="ctr" indent="0" marL="0">
              <a:buNone/>
            </a:pPr>
            <a:endParaRPr lang="en-US" sz="15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bg2"/>
                </a:solidFill>
              </a:rPr>
              <a:t>The Project Graveyard · Code Variant Build 01 · PS 05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828800"/>
            <a:ext cx="78638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ctr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14400" y="2697480"/>
            <a:ext cx="73152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500" dirty="0">
                <a:solidFill>
                  <a:schemeClr val="bg1"/>
                </a:solidFill>
              </a:defRPr>
            </a:lvl1pPr>
          </a:lstStyle>
          <a:p>
            <a:pPr algn="ctr" indent="0" marL="0">
              <a:buNone/>
            </a:pPr>
            <a:endParaRPr lang="en-US" sz="15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project-graveyard-codevariant.vercel.app" TargetMode="External"/><Relationship Id="rId3" Type="http://schemas.openxmlformats.org/officeDocument/2006/relationships/hyperlink" Target="https://github.com/erajneeshverma/rajnishkver-CodeVarient" TargetMode="External"/><Relationship Id="rId1" Type="http://schemas.openxmlformats.org/officeDocument/2006/relationships/image" Target="../media/image-1-1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project-graveyard-codevariant.vercel.app" TargetMode="External"/><Relationship Id="rId3" Type="http://schemas.openxmlformats.org/officeDocument/2006/relationships/hyperlink" Target="https://github.com/erajneeshverma/rajnishkver-CodeVarient" TargetMode="External"/><Relationship Id="rId1" Type="http://schemas.openxmlformats.org/officeDocument/2006/relationships/image" Target="../media/image-13-1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mbstone mark"/>
          <p:cNvSpPr/>
          <p:nvPr/>
        </p:nvSpPr>
        <p:spPr>
          <a:xfrm>
            <a:off x="4206240" y="502920"/>
            <a:ext cx="731520" cy="77724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3" name="Image 0" descr="Tombstone cros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70832" y="658368"/>
            <a:ext cx="402336" cy="402336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141732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Project Graveyard</a:t>
            </a:r>
            <a:endParaRPr lang="en-US" sz="4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1097280" y="228600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Unfinished isn’t failed. Lay old projects to rest, understand why they stopped, and decide whether they deserve a second life.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3246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Code Variant · Build 01 · Final submission · </a:t>
            </a:r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Problem Statement 05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5478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Rajnish Kumar Verma (solo)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Live: </a:t>
            </a:r>
            <a:pPr algn="ctr" indent="0" marL="0">
              <a:buNone/>
            </a:pPr>
            <a:r>
              <a:rPr lang="en-US" sz="1100" u="sng" dirty="0">
                <a:solidFill>
                  <a:schemeClr val="accent1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project-graveyard-codevariant.vercel.app</a:t>
            </a:r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     Code: </a:t>
            </a:r>
            <a:pPr algn="ctr" indent="0" marL="0">
              <a:buNone/>
            </a:pPr>
            <a:r>
              <a:rPr lang="en-US" sz="1100" u="sng" dirty="0">
                <a:solidFill>
                  <a:schemeClr val="accent1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github.com/erajneeshverma/rajnishkver-CodeVarient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shipped in 12 hours</a:t>
            </a:r>
            <a:endParaRPr lang="en-US" sz="2600" dirty="0"/>
          </a:p>
        </p:txBody>
      </p:sp>
      <p:sp>
        <p:nvSpPr>
          <p:cNvPr id="3" name="Graveyard Canvas screenshot frame"/>
          <p:cNvSpPr/>
          <p:nvPr/>
        </p:nvSpPr>
        <p:spPr>
          <a:xfrm>
            <a:off x="457200" y="960120"/>
            <a:ext cx="5577840" cy="3044952"/>
          </a:xfrm>
          <a:prstGeom prst="roundRect">
            <a:avLst>
              <a:gd name="adj" fmla="val 3003"/>
            </a:avLst>
          </a:prstGeom>
          <a:solidFill>
            <a:srgbClr val="0D0F15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4" name="Graveyard Canvas screenshot" descr="Graveyard Canvas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7749" y="1024128"/>
            <a:ext cx="5416741" cy="2916936"/>
          </a:xfrm>
          <a:prstGeom prst="rect">
            <a:avLst/>
          </a:prstGeom>
        </p:spPr>
      </p:pic>
      <p:sp>
        <p:nvSpPr>
          <p:cNvPr id="5" name="Stat 6"/>
          <p:cNvSpPr/>
          <p:nvPr/>
        </p:nvSpPr>
        <p:spPr>
          <a:xfrm>
            <a:off x="6263640" y="960120"/>
            <a:ext cx="2423160" cy="658368"/>
          </a:xfrm>
          <a:prstGeom prst="roundRect">
            <a:avLst>
              <a:gd name="adj" fmla="val 13889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0" y="1033272"/>
            <a:ext cx="82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7178040" y="1033272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screens, all drag-and-drop</a:t>
            </a:r>
            <a:endParaRPr lang="en-US" sz="1100" dirty="0"/>
          </a:p>
        </p:txBody>
      </p:sp>
      <p:sp>
        <p:nvSpPr>
          <p:cNvPr id="8" name="Stat 31"/>
          <p:cNvSpPr/>
          <p:nvPr/>
        </p:nvSpPr>
        <p:spPr>
          <a:xfrm>
            <a:off x="6263640" y="1737360"/>
            <a:ext cx="2423160" cy="658368"/>
          </a:xfrm>
          <a:prstGeom prst="roundRect">
            <a:avLst>
              <a:gd name="adj" fmla="val 13889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0" y="1810512"/>
            <a:ext cx="82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7178040" y="1810512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automated tests passing</a:t>
            </a:r>
            <a:endParaRPr lang="en-US" sz="1100" dirty="0"/>
          </a:p>
        </p:txBody>
      </p:sp>
      <p:sp>
        <p:nvSpPr>
          <p:cNvPr id="11" name="Stat 0"/>
          <p:cNvSpPr/>
          <p:nvPr/>
        </p:nvSpPr>
        <p:spPr>
          <a:xfrm>
            <a:off x="6263640" y="2514600"/>
            <a:ext cx="2423160" cy="658368"/>
          </a:xfrm>
          <a:prstGeom prst="roundRect">
            <a:avLst>
              <a:gd name="adj" fmla="val 13889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0" y="2587752"/>
            <a:ext cx="82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800" dirty="0"/>
          </a:p>
        </p:txBody>
      </p:sp>
      <p:sp>
        <p:nvSpPr>
          <p:cNvPr id="13" name="Text 10"/>
          <p:cNvSpPr txBox="1"/>
          <p:nvPr/>
        </p:nvSpPr>
        <p:spPr>
          <a:xfrm>
            <a:off x="7178040" y="2587752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accessibility violations (axe-core)</a:t>
            </a:r>
            <a:endParaRPr lang="en-US" sz="1100" dirty="0"/>
          </a:p>
        </p:txBody>
      </p:sp>
      <p:sp>
        <p:nvSpPr>
          <p:cNvPr id="14" name="Stat 30+"/>
          <p:cNvSpPr/>
          <p:nvPr/>
        </p:nvSpPr>
        <p:spPr>
          <a:xfrm>
            <a:off x="6263640" y="3291840"/>
            <a:ext cx="2423160" cy="658368"/>
          </a:xfrm>
          <a:prstGeom prst="roundRect">
            <a:avLst>
              <a:gd name="adj" fmla="val 13889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00800" y="3364992"/>
            <a:ext cx="82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30+</a:t>
            </a:r>
            <a:endParaRPr lang="en-US" sz="2800" dirty="0"/>
          </a:p>
        </p:txBody>
      </p:sp>
      <p:sp>
        <p:nvSpPr>
          <p:cNvPr id="16" name="Text 13"/>
          <p:cNvSpPr txBox="1"/>
          <p:nvPr/>
        </p:nvSpPr>
        <p:spPr>
          <a:xfrm>
            <a:off x="7178040" y="3364992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commits, each one deployed live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A working, deployed product: bury a project, run its autopsy, get explained advice, decide its fate. Then the hour-6 twist turned the whole app into a drag-and-drop canvas.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Unfinished projects don’t die, they get forgotten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20624" cy="420624"/>
          </a:xfrm>
          <a:prstGeom prst="ellipse">
            <a:avLst/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9737" y="1144097"/>
            <a:ext cx="235549" cy="23554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51560" y="10515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Context decays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051560" y="1362456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Months later you can’t remember what was done, what was left, or why you stopped.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2148840"/>
            <a:ext cx="420624" cy="420624"/>
          </a:xfrm>
          <a:prstGeom prst="ellipse">
            <a:avLst/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737" y="2241377"/>
            <a:ext cx="235549" cy="235549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51560" y="21488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No honest post-mortem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051560" y="2459736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Projects stall for very different reasons (time, scope, a blocker, lost interest), but nobody records which one.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57200" y="3246120"/>
            <a:ext cx="420624" cy="420624"/>
          </a:xfrm>
          <a:prstGeom prst="ellipse">
            <a:avLst/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737" y="3338657"/>
            <a:ext cx="235549" cy="235549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051560" y="32461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Only two choices today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1051560" y="3557016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“Ignore it” or “delete it”. Restarting, pivoting or salvaging parts is never seriously considered.</a:t>
            </a:r>
            <a:endParaRPr lang="en-US" sz="1200" dirty="0"/>
          </a:p>
        </p:txBody>
      </p:sp>
      <p:sp>
        <p:nvSpPr>
          <p:cNvPr id="15" name="Our reading card"/>
          <p:cNvSpPr/>
          <p:nvPr/>
        </p:nvSpPr>
        <p:spPr>
          <a:xfrm>
            <a:off x="5303520" y="1051560"/>
            <a:ext cx="3383280" cy="3108960"/>
          </a:xfrm>
          <a:prstGeom prst="roundRect">
            <a:avLst>
              <a:gd name="adj" fmla="val 2941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532120" y="12801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Our reading of the problem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5532120" y="16916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Storage isn’t the problem. GitHub already keeps the code.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5532120" y="251460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The missing piece is a decision: </a:t>
            </a:r>
            <a:pPr indent="0" marL="0">
              <a:buNone/>
            </a:pPr>
            <a:r>
              <a:rPr lang="en-US" sz="1500" i="1" dirty="0">
                <a:solidFill>
                  <a:schemeClr val="accent2"/>
                </a:solidFill>
              </a:rPr>
              <a:t>what is this project worth now, and what should I do with it?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Bury it in under two minutes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05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0241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The Tombstone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335024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What it was, the goal, what got done and what didn’t. Paste a GitHub URL and the stack, dates and README fill themselves in.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02996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029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04825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The Autopsy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2359152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Why it stopped: time, scope creep, tech blocker, tech debt, lost interest, no users, plus an honest note.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054096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3054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07238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Assess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338328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Interest today (1–5) and is it still relevant? The advisor previews its pick before you finish.</a:t>
            </a:r>
            <a:endParaRPr lang="en-US" sz="1200" dirty="0"/>
          </a:p>
        </p:txBody>
      </p:sp>
      <p:sp>
        <p:nvSpPr>
          <p:cNvPr id="15" name="Bury finish step screenshot frame"/>
          <p:cNvSpPr/>
          <p:nvPr/>
        </p:nvSpPr>
        <p:spPr>
          <a:xfrm>
            <a:off x="4434840" y="1005840"/>
            <a:ext cx="4251960" cy="2011680"/>
          </a:xfrm>
          <a:prstGeom prst="roundRect">
            <a:avLst>
              <a:gd name="adj" fmla="val 4545"/>
            </a:avLst>
          </a:prstGeom>
          <a:solidFill>
            <a:srgbClr val="0D0F15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16" name="Bury finish step screenshot" descr="Bury finish step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98848" y="1117148"/>
            <a:ext cx="4123944" cy="1789064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4434840" y="3154680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Finish by dragging the live tombstone into </a:t>
            </a:r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the grave</a:t>
            </a:r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. Progress autosaves; discarding a draft can be undone.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Revival Advisor shows its working</a:t>
            </a:r>
            <a:endParaRPr lang="en-US" sz="2600" dirty="0"/>
          </a:p>
        </p:txBody>
      </p:sp>
      <p:sp>
        <p:nvSpPr>
          <p:cNvPr id="3" name="Revival Advisor screenshot frame"/>
          <p:cNvSpPr/>
          <p:nvPr/>
        </p:nvSpPr>
        <p:spPr>
          <a:xfrm>
            <a:off x="457200" y="960120"/>
            <a:ext cx="4206240" cy="3611880"/>
          </a:xfrm>
          <a:prstGeom prst="roundRect">
            <a:avLst>
              <a:gd name="adj" fmla="val 2532"/>
            </a:avLst>
          </a:prstGeom>
          <a:solidFill>
            <a:srgbClr val="0D0F15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4" name="Revival Advisor screenshot" descr="Revival Advisor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1059690"/>
            <a:ext cx="4078224" cy="34127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937760" y="9601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Six signals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937760" y="128016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Completion %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Cause of death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Months idle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Interest today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Still relevant?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Salvageable parts</a:t>
            </a:r>
            <a:endParaRPr lang="en-US" sz="1200" dirty="0"/>
          </a:p>
        </p:txBody>
      </p:sp>
      <p:sp>
        <p:nvSpPr>
          <p:cNvPr id="7" name="Five paths card"/>
          <p:cNvSpPr/>
          <p:nvPr/>
        </p:nvSpPr>
        <p:spPr>
          <a:xfrm>
            <a:off x="6903720" y="1280160"/>
            <a:ext cx="1783080" cy="1463040"/>
          </a:xfrm>
          <a:prstGeom prst="roundRect">
            <a:avLst>
              <a:gd name="adj" fmla="val 625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040880" y="1389888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Five paths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Continue · Restart · Change the idea · Repurpose · Archive</a:t>
            </a:r>
            <a:endParaRPr lang="en-US" sz="1100" dirty="0"/>
          </a:p>
        </p:txBody>
      </p:sp>
      <p:sp>
        <p:nvSpPr>
          <p:cNvPr id="9" name="Example rule"/>
          <p:cNvSpPr/>
          <p:nvPr/>
        </p:nvSpPr>
        <p:spPr>
          <a:xfrm>
            <a:off x="4937760" y="2926080"/>
            <a:ext cx="3749040" cy="68580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074920" y="301752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+3  </a:t>
            </a:r>
            <a:pPr indent="0" marL="0">
              <a:buNone/>
            </a:pPr>
            <a:r>
              <a:rPr lang="en-US" sz="1100" i="1" dirty="0">
                <a:solidFill>
                  <a:schemeClr val="bg1"/>
                </a:solidFill>
              </a:rPr>
              <a:t>Scope creep killed it, and a clean slate with a tighter scope fixes that.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4937760" y="374904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bg2"/>
                </a:solidFill>
              </a:rPr>
              <a:t>Rule-based on purpose: every point has its sentence, fit % shares one scale so it always agrees with the ranking, and the rules live in one config file. You always make the final call, and overriding is logged.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1325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chemeClr val="bg2"/>
                </a:solidFill>
              </a:rPr>
              <a:t>HOUR 6 · 18:00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182880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Canvas Protocol</a:t>
            </a:r>
            <a:endParaRPr lang="en-US" sz="3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914400" y="26974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i="1" dirty="0">
                <a:solidFill>
                  <a:schemeClr val="bg1"/>
                </a:solidFill>
              </a:rPr>
              <a:t>“No standard buttons for primary actions. Users must drag data cards into Action Zones.”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3840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First drag-and-drop screen shipped 16 minutes later. Every primary action converted by 18:28.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button became a drag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920240"/>
                <a:gridCol w="42976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Action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Before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Now: drag … into …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Bury a project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“Lay it to rest” button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the live tombstone → The grave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Decide its fate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“Choose” + modal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the project card → a ranked path zone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Revive or archive fast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open project, choose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a tombstone → Resurrection Circle / Eternal Rest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Record a revisit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“Update advice”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the assessment card → Record revisit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Haunt · Export · Delete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buttons + confirm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the project → Haunt / Post-mortem / Exhume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Salvage · Timeline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“Add” buttons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the new part / entry card → its list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Backup · Import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file buttons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the graveyard card → Export · a .json file → Import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Everything destructive can be undone from its toast. The logic didn’t change, only the way you trigger it.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home screen is now a canvas</a:t>
            </a:r>
            <a:endParaRPr lang="en-US" sz="2600" dirty="0"/>
          </a:p>
        </p:txBody>
      </p:sp>
      <p:sp>
        <p:nvSpPr>
          <p:cNvPr id="3" name="Dragging a tombstone across the Graveyard Canvas frame"/>
          <p:cNvSpPr/>
          <p:nvPr/>
        </p:nvSpPr>
        <p:spPr>
          <a:xfrm>
            <a:off x="457200" y="960120"/>
            <a:ext cx="5760720" cy="3108960"/>
          </a:xfrm>
          <a:prstGeom prst="roundRect">
            <a:avLst>
              <a:gd name="adj" fmla="val 2941"/>
            </a:avLst>
          </a:prstGeom>
          <a:solidFill>
            <a:srgbClr val="0D0F15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4" name="Dragging a tombstone across the Graveyard Canvas" descr="Dragging a tombstone across the Graveyard Canv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758" y="1024128"/>
            <a:ext cx="5535604" cy="2980944"/>
          </a:xfrm>
          <a:prstGeom prst="rect">
            <a:avLst/>
          </a:prstGeom>
        </p:spPr>
      </p:pic>
      <p:sp>
        <p:nvSpPr>
          <p:cNvPr id="5" name="Zone Séance"/>
          <p:cNvSpPr/>
          <p:nvPr/>
        </p:nvSpPr>
        <p:spPr>
          <a:xfrm>
            <a:off x="6400800" y="960120"/>
            <a:ext cx="2286000" cy="448056"/>
          </a:xfrm>
          <a:prstGeom prst="roundRect">
            <a:avLst>
              <a:gd name="adj" fmla="val 20408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6" name="Image 1" descr="Séanc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672" y="1069848"/>
            <a:ext cx="228600" cy="2286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858000" y="98755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Séance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chemeClr val="bg2"/>
                </a:solidFill>
              </a:rPr>
              <a:t>ask the advisor</a:t>
            </a:r>
            <a:endParaRPr lang="en-US" sz="1100" dirty="0"/>
          </a:p>
        </p:txBody>
      </p:sp>
      <p:sp>
        <p:nvSpPr>
          <p:cNvPr id="8" name="Zone Resurrection Circle"/>
          <p:cNvSpPr/>
          <p:nvPr/>
        </p:nvSpPr>
        <p:spPr>
          <a:xfrm>
            <a:off x="6400800" y="1481328"/>
            <a:ext cx="2286000" cy="448056"/>
          </a:xfrm>
          <a:prstGeom prst="roundRect">
            <a:avLst>
              <a:gd name="adj" fmla="val 20408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9" name="Image 2" descr="Resurrection Circl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672" y="1591056"/>
            <a:ext cx="228600" cy="22860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6858000" y="15087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Resurrection Circle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chemeClr val="bg2"/>
                </a:solidFill>
              </a:rPr>
              <a:t>revive with the best path</a:t>
            </a:r>
            <a:endParaRPr lang="en-US" sz="1100" dirty="0"/>
          </a:p>
        </p:txBody>
      </p:sp>
      <p:sp>
        <p:nvSpPr>
          <p:cNvPr id="11" name="Zone Eternal Rest"/>
          <p:cNvSpPr/>
          <p:nvPr/>
        </p:nvSpPr>
        <p:spPr>
          <a:xfrm>
            <a:off x="6400800" y="2002536"/>
            <a:ext cx="2286000" cy="448056"/>
          </a:xfrm>
          <a:prstGeom prst="roundRect">
            <a:avLst>
              <a:gd name="adj" fmla="val 20408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12" name="Image 3" descr="Eternal Rest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9672" y="2112264"/>
            <a:ext cx="228600" cy="22860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6858000" y="202996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Eternal Rest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chemeClr val="bg2"/>
                </a:solidFill>
              </a:rPr>
              <a:t>archive, R.I.P.</a:t>
            </a:r>
            <a:endParaRPr lang="en-US" sz="1100" dirty="0"/>
          </a:p>
        </p:txBody>
      </p:sp>
      <p:sp>
        <p:nvSpPr>
          <p:cNvPr id="14" name="Zone Haunting Ground"/>
          <p:cNvSpPr/>
          <p:nvPr/>
        </p:nvSpPr>
        <p:spPr>
          <a:xfrm>
            <a:off x="6400800" y="2523744"/>
            <a:ext cx="2286000" cy="448056"/>
          </a:xfrm>
          <a:prstGeom prst="roundRect">
            <a:avLst>
              <a:gd name="adj" fmla="val 20408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15" name="Image 4" descr="Haunting Ground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9672" y="2633472"/>
            <a:ext cx="228600" cy="22860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6858000" y="2551176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Haunting Ground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chemeClr val="bg2"/>
                </a:solidFill>
              </a:rPr>
              <a:t>remind me in 30 days</a:t>
            </a:r>
            <a:endParaRPr lang="en-US" sz="1100" dirty="0"/>
          </a:p>
        </p:txBody>
      </p:sp>
      <p:sp>
        <p:nvSpPr>
          <p:cNvPr id="17" name="Zone Post-mortem"/>
          <p:cNvSpPr/>
          <p:nvPr/>
        </p:nvSpPr>
        <p:spPr>
          <a:xfrm>
            <a:off x="6400800" y="3044952"/>
            <a:ext cx="2286000" cy="448056"/>
          </a:xfrm>
          <a:prstGeom prst="roundRect">
            <a:avLst>
              <a:gd name="adj" fmla="val 20408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18" name="Image 5" descr="Post-mortem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9672" y="3154680"/>
            <a:ext cx="228600" cy="228600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6858000" y="3072384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Post-mortem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chemeClr val="bg2"/>
                </a:solidFill>
              </a:rPr>
              <a:t>download its report</a:t>
            </a:r>
            <a:endParaRPr lang="en-US" sz="1100" dirty="0"/>
          </a:p>
        </p:txBody>
      </p:sp>
      <p:sp>
        <p:nvSpPr>
          <p:cNvPr id="20" name="Zone Exhume"/>
          <p:cNvSpPr/>
          <p:nvPr/>
        </p:nvSpPr>
        <p:spPr>
          <a:xfrm>
            <a:off x="6400800" y="3566160"/>
            <a:ext cx="2286000" cy="448056"/>
          </a:xfrm>
          <a:prstGeom prst="roundRect">
            <a:avLst>
              <a:gd name="adj" fmla="val 20408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21" name="Image 6" descr="Exhume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9672" y="3675888"/>
            <a:ext cx="228600" cy="228600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6858000" y="359359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Exhume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chemeClr val="bg2"/>
                </a:solidFill>
              </a:rPr>
              <a:t>delete, with undo</a:t>
            </a:r>
            <a:endParaRPr lang="en-US" sz="1100" dirty="0"/>
          </a:p>
        </p:txBody>
      </p:sp>
      <p:sp>
        <p:nvSpPr>
          <p:cNvPr id="23" name="Text 14"/>
          <p:cNvSpPr txBox="1"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Tombstones stand in a field you arrange yourself; drop one anywhere to move it. Every drop plays an effect: light for a revival, dust for a burial, a ghost for a haunt.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Drag and drop that works for everyone</a:t>
            </a:r>
            <a:endParaRPr lang="en-US" sz="2600" dirty="0"/>
          </a:p>
        </p:txBody>
      </p:sp>
      <p:sp>
        <p:nvSpPr>
          <p:cNvPr id="3" name="Phone screenshot of the project actions frame"/>
          <p:cNvSpPr/>
          <p:nvPr/>
        </p:nvSpPr>
        <p:spPr>
          <a:xfrm>
            <a:off x="457200" y="960120"/>
            <a:ext cx="1783080" cy="3657600"/>
          </a:xfrm>
          <a:prstGeom prst="roundRect">
            <a:avLst>
              <a:gd name="adj" fmla="val 5128"/>
            </a:avLst>
          </a:prstGeom>
          <a:solidFill>
            <a:srgbClr val="0D0F15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4" name="Phone screenshot of the project actions" descr="Phone screenshot of the project acti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256" y="1024128"/>
            <a:ext cx="1630969" cy="35295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606040" y="960120"/>
            <a:ext cx="420624" cy="420624"/>
          </a:xfrm>
          <a:prstGeom prst="ellipse">
            <a:avLst/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8577" y="1052657"/>
            <a:ext cx="235549" cy="235549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3200400" y="960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Keyboard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3200400" y="125272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Space picks a card up, arrow keys jump between zones (off-screen ones scroll into view), Space drops, Esc cancels.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2606040" y="1874520"/>
            <a:ext cx="420624" cy="420624"/>
          </a:xfrm>
          <a:prstGeom prst="ellipse">
            <a:avLst/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8577" y="1967057"/>
            <a:ext cx="235549" cy="235549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3200400" y="1874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Screen readers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3200400" y="216712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Every pick-up, hover and drop is announced. Cards are named by what they show.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2606040" y="2788920"/>
            <a:ext cx="420624" cy="420624"/>
          </a:xfrm>
          <a:prstGeom prst="ellipse">
            <a:avLst/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8577" y="2881457"/>
            <a:ext cx="235549" cy="235549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3200400" y="2788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Touch</a:t>
            </a:r>
            <a:endParaRPr lang="en-US" sz="1500" dirty="0"/>
          </a:p>
        </p:txBody>
      </p:sp>
      <p:sp>
        <p:nvSpPr>
          <p:cNvPr id="16" name="Text 10"/>
          <p:cNvSpPr txBox="1"/>
          <p:nvPr/>
        </p:nvSpPr>
        <p:spPr>
          <a:xfrm>
            <a:off x="3200400" y="308152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Long-press to lift on phones and tablets; scrolling still works. Dropping on empty space does nothing.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2606040" y="3703320"/>
            <a:ext cx="420624" cy="420624"/>
          </a:xfrm>
          <a:prstGeom prst="ellipse">
            <a:avLst/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8577" y="3795857"/>
            <a:ext cx="235549" cy="235549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3200400" y="3703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Safe by default</a:t>
            </a:r>
            <a:endParaRPr lang="en-US" sz="1500" dirty="0"/>
          </a:p>
        </p:txBody>
      </p:sp>
      <p:sp>
        <p:nvSpPr>
          <p:cNvPr id="20" name="Text 13"/>
          <p:cNvSpPr txBox="1"/>
          <p:nvPr/>
        </p:nvSpPr>
        <p:spPr>
          <a:xfrm>
            <a:off x="3200400" y="399592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Undo on every destructive drop, plus zero axe-core violations on every page, light and dark.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the brief</a:t>
            </a:r>
            <a:endParaRPr lang="en-US" sz="2600" dirty="0"/>
          </a:p>
        </p:txBody>
      </p:sp>
      <p:sp>
        <p:nvSpPr>
          <p:cNvPr id="3" name="Graveyard Insights screenshot frame"/>
          <p:cNvSpPr/>
          <p:nvPr/>
        </p:nvSpPr>
        <p:spPr>
          <a:xfrm>
            <a:off x="4572000" y="960120"/>
            <a:ext cx="4114800" cy="2569464"/>
          </a:xfrm>
          <a:prstGeom prst="roundRect">
            <a:avLst>
              <a:gd name="adj" fmla="val 3559"/>
            </a:avLst>
          </a:prstGeom>
          <a:solidFill>
            <a:srgbClr val="0D0F15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4" name="Graveyard Insights screenshot" descr="Graveyard Insights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6242" y="1024128"/>
            <a:ext cx="3906317" cy="24414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960120"/>
            <a:ext cx="384048" cy="384048"/>
          </a:xfrm>
          <a:prstGeom prst="ellipse">
            <a:avLst/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691" y="1044611"/>
            <a:ext cx="215067" cy="215067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94183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Graveyard Insights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1197864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Top cause of death, revival rate, plain findings.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457200" y="1673352"/>
            <a:ext cx="384048" cy="384048"/>
          </a:xfrm>
          <a:prstGeom prst="ellipse">
            <a:avLst/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691" y="1757843"/>
            <a:ext cx="215067" cy="215067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960120" y="165506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Post-mortem export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960120" y="1911096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Any project as a Markdown report for its repo.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457200" y="2386584"/>
            <a:ext cx="384048" cy="384048"/>
          </a:xfrm>
          <a:prstGeom prst="ellipse">
            <a:avLst/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691" y="2471075"/>
            <a:ext cx="215067" cy="215067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960120" y="236829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Salvage Yard</a:t>
            </a:r>
            <a:endParaRPr lang="en-US" sz="1300" dirty="0"/>
          </a:p>
        </p:txBody>
      </p:sp>
      <p:sp>
        <p:nvSpPr>
          <p:cNvPr id="16" name="Text 10"/>
          <p:cNvSpPr txBox="1"/>
          <p:nvPr/>
        </p:nvSpPr>
        <p:spPr>
          <a:xfrm>
            <a:off x="960120" y="262432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Reusable code, lessons and assets from every project.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457200" y="3099816"/>
            <a:ext cx="384048" cy="384048"/>
          </a:xfrm>
          <a:prstGeom prst="ellipse">
            <a:avLst/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691" y="3184307"/>
            <a:ext cx="215067" cy="215067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960120" y="308152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Haunt me later</a:t>
            </a:r>
            <a:endParaRPr lang="en-US" sz="1300" dirty="0"/>
          </a:p>
        </p:txBody>
      </p:sp>
      <p:sp>
        <p:nvSpPr>
          <p:cNvPr id="20" name="Text 13"/>
          <p:cNvSpPr txBox="1"/>
          <p:nvPr/>
        </p:nvSpPr>
        <p:spPr>
          <a:xfrm>
            <a:off x="960120" y="333756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Revisit reminders; due projects start haunting you.</a:t>
            </a:r>
            <a:endParaRPr lang="en-US" sz="1100" dirty="0"/>
          </a:p>
        </p:txBody>
      </p:sp>
      <p:sp>
        <p:nvSpPr>
          <p:cNvPr id="21" name="Shape 14"/>
          <p:cNvSpPr/>
          <p:nvPr/>
        </p:nvSpPr>
        <p:spPr>
          <a:xfrm>
            <a:off x="457200" y="3813048"/>
            <a:ext cx="384048" cy="384048"/>
          </a:xfrm>
          <a:prstGeom prst="ellipse">
            <a:avLst/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1691" y="3897539"/>
            <a:ext cx="215067" cy="215067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960120" y="379476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GitHub import</a:t>
            </a:r>
            <a:endParaRPr lang="en-US" sz="1300" dirty="0"/>
          </a:p>
        </p:txBody>
      </p:sp>
      <p:sp>
        <p:nvSpPr>
          <p:cNvPr id="24" name="Text 16"/>
          <p:cNvSpPr txBox="1"/>
          <p:nvPr/>
        </p:nvSpPr>
        <p:spPr>
          <a:xfrm>
            <a:off x="960120" y="405079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Paste a public repo: stack, dates and README fill in.</a:t>
            </a:r>
            <a:endParaRPr lang="en-US" sz="1100" dirty="0"/>
          </a:p>
        </p:txBody>
      </p:sp>
      <p:sp>
        <p:nvSpPr>
          <p:cNvPr id="25" name="Text 17"/>
          <p:cNvSpPr txBox="1"/>
          <p:nvPr/>
        </p:nvSpPr>
        <p:spPr>
          <a:xfrm>
            <a:off x="4572000" y="37033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Plus light and dark themes, JSON backup and restore, and a full timeline for every project.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canvas layer, zero backend</a:t>
            </a:r>
            <a:endParaRPr lang="en-US" sz="2600" dirty="0"/>
          </a:p>
        </p:txBody>
      </p:sp>
      <p:sp>
        <p:nvSpPr>
          <p:cNvPr id="3" name="Layer Config"/>
          <p:cNvSpPr/>
          <p:nvPr/>
        </p:nvSpPr>
        <p:spPr>
          <a:xfrm>
            <a:off x="457200" y="1097280"/>
            <a:ext cx="1481328" cy="1234440"/>
          </a:xfrm>
          <a:prstGeom prst="roundRect">
            <a:avLst>
              <a:gd name="adj" fmla="val 7407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1207008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Config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536192"/>
            <a:ext cx="1261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causes, statuses, paths, every rule</a:t>
            </a:r>
            <a:endParaRPr lang="en-US" sz="1100" dirty="0"/>
          </a:p>
        </p:txBody>
      </p:sp>
      <p:pic>
        <p:nvPicPr>
          <p:cNvPr id="6" name="Image 0" descr="th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6816" y="1618488"/>
            <a:ext cx="173736" cy="173736"/>
          </a:xfrm>
          <a:prstGeom prst="rect">
            <a:avLst/>
          </a:prstGeom>
        </p:spPr>
      </p:pic>
      <p:sp>
        <p:nvSpPr>
          <p:cNvPr id="7" name="Layer Revival engine"/>
          <p:cNvSpPr/>
          <p:nvPr/>
        </p:nvSpPr>
        <p:spPr>
          <a:xfrm>
            <a:off x="2144268" y="1097280"/>
            <a:ext cx="1481328" cy="1234440"/>
          </a:xfrm>
          <a:prstGeom prst="roundRect">
            <a:avLst>
              <a:gd name="adj" fmla="val 7407"/>
            </a:avLst>
          </a:prstGeom>
          <a:solidFill>
            <a:schemeClr val="tx2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253996" y="1207008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Revival engine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2253996" y="1536192"/>
            <a:ext cx="1261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pure TypeScript scoring, tested</a:t>
            </a:r>
            <a:endParaRPr lang="en-US" sz="1100" dirty="0"/>
          </a:p>
        </p:txBody>
      </p:sp>
      <p:pic>
        <p:nvPicPr>
          <p:cNvPr id="10" name="Image 1" descr="the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3884" y="1618488"/>
            <a:ext cx="173736" cy="173736"/>
          </a:xfrm>
          <a:prstGeom prst="rect">
            <a:avLst/>
          </a:prstGeom>
        </p:spPr>
      </p:pic>
      <p:sp>
        <p:nvSpPr>
          <p:cNvPr id="11" name="Layer Store"/>
          <p:cNvSpPr/>
          <p:nvPr/>
        </p:nvSpPr>
        <p:spPr>
          <a:xfrm>
            <a:off x="3831336" y="1097280"/>
            <a:ext cx="1481328" cy="1234440"/>
          </a:xfrm>
          <a:prstGeom prst="roundRect">
            <a:avLst>
              <a:gd name="adj" fmla="val 7407"/>
            </a:avLst>
          </a:prstGeom>
          <a:solidFill>
            <a:schemeClr val="tx2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3941064" y="1207008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Store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3941064" y="1536192"/>
            <a:ext cx="1261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Zustand, validated, persisted locally</a:t>
            </a:r>
            <a:endParaRPr lang="en-US" sz="1100" dirty="0"/>
          </a:p>
        </p:txBody>
      </p:sp>
      <p:pic>
        <p:nvPicPr>
          <p:cNvPr id="14" name="Image 2" descr="the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0952" y="1618488"/>
            <a:ext cx="173736" cy="173736"/>
          </a:xfrm>
          <a:prstGeom prst="rect">
            <a:avLst/>
          </a:prstGeom>
        </p:spPr>
      </p:pic>
      <p:sp>
        <p:nvSpPr>
          <p:cNvPr id="15" name="Layer Canvas layer"/>
          <p:cNvSpPr/>
          <p:nvPr/>
        </p:nvSpPr>
        <p:spPr>
          <a:xfrm>
            <a:off x="5518404" y="1097280"/>
            <a:ext cx="1481328" cy="1234440"/>
          </a:xfrm>
          <a:prstGeom prst="roundRect">
            <a:avLst>
              <a:gd name="adj" fmla="val 7407"/>
            </a:avLst>
          </a:prstGeom>
          <a:solidFill>
            <a:schemeClr val="tx2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628132" y="1207008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Canvas layer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5628132" y="1536192"/>
            <a:ext cx="1261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DataCard + ActionZone (dnd-kit)</a:t>
            </a:r>
            <a:endParaRPr lang="en-US" sz="1100" dirty="0"/>
          </a:p>
        </p:txBody>
      </p:sp>
      <p:pic>
        <p:nvPicPr>
          <p:cNvPr id="18" name="Image 3" descr="the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8020" y="1618488"/>
            <a:ext cx="173736" cy="173736"/>
          </a:xfrm>
          <a:prstGeom prst="rect">
            <a:avLst/>
          </a:prstGeom>
        </p:spPr>
      </p:pic>
      <p:sp>
        <p:nvSpPr>
          <p:cNvPr id="19" name="Layer Screens"/>
          <p:cNvSpPr/>
          <p:nvPr/>
        </p:nvSpPr>
        <p:spPr>
          <a:xfrm>
            <a:off x="7205472" y="1097280"/>
            <a:ext cx="1481328" cy="1234440"/>
          </a:xfrm>
          <a:prstGeom prst="roundRect">
            <a:avLst>
              <a:gd name="adj" fmla="val 7407"/>
            </a:avLst>
          </a:prstGeom>
          <a:solidFill>
            <a:schemeClr val="tx2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7315200" y="1207008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Screens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7315200" y="1536192"/>
            <a:ext cx="1261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Canvas · Bury · Project · Insights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57200" y="2697480"/>
            <a:ext cx="1261872" cy="310896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457200" y="2697480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React 19 + Vite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1810512" y="2697480"/>
            <a:ext cx="932688" cy="310896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1810512" y="2697480"/>
            <a:ext cx="932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TypeScript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2834640" y="2697480"/>
            <a:ext cx="1261872" cy="310896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2834640" y="2697480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Tailwind CSS v4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4187952" y="2697480"/>
            <a:ext cx="735178" cy="310896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4187952" y="2697480"/>
            <a:ext cx="7351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dnd-kit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5014570" y="2697480"/>
            <a:ext cx="735178" cy="310896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5014570" y="2697480"/>
            <a:ext cx="7351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Zustand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5841187" y="2697480"/>
            <a:ext cx="1130198" cy="310896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5841187" y="2697480"/>
            <a:ext cx="113019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Framer Motion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7062826" y="2697480"/>
            <a:ext cx="669341" cy="310896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5" name="Text 29"/>
          <p:cNvSpPr txBox="1"/>
          <p:nvPr/>
        </p:nvSpPr>
        <p:spPr>
          <a:xfrm>
            <a:off x="7062826" y="2697480"/>
            <a:ext cx="66934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Vitest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7823606" y="2697480"/>
            <a:ext cx="669341" cy="310896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7" name="Text 31"/>
          <p:cNvSpPr txBox="1"/>
          <p:nvPr/>
        </p:nvSpPr>
        <p:spPr>
          <a:xfrm>
            <a:off x="7823606" y="2697480"/>
            <a:ext cx="66934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Vercel</a:t>
            </a:r>
            <a:endParaRPr lang="en-US" sz="1000" dirty="0"/>
          </a:p>
        </p:txBody>
      </p:sp>
      <p:sp>
        <p:nvSpPr>
          <p:cNvPr id="38" name="Why it adapted fast"/>
          <p:cNvSpPr/>
          <p:nvPr/>
        </p:nvSpPr>
        <p:spPr>
          <a:xfrm>
            <a:off x="457200" y="3291840"/>
            <a:ext cx="8229600" cy="1280160"/>
          </a:xfrm>
          <a:prstGeom prst="roundRect">
            <a:avLst>
              <a:gd name="adj" fmla="val 7143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9" name="Text 33"/>
          <p:cNvSpPr txBox="1"/>
          <p:nvPr/>
        </p:nvSpPr>
        <p:spPr>
          <a:xfrm>
            <a:off x="640080" y="34015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Why the twist took minutes, not hours</a:t>
            </a:r>
            <a:endParaRPr lang="en-US" sz="1300" dirty="0"/>
          </a:p>
        </p:txBody>
      </p:sp>
      <p:sp>
        <p:nvSpPr>
          <p:cNvPr id="40" name="Text 34"/>
          <p:cNvSpPr txBox="1"/>
          <p:nvPr/>
        </p:nvSpPr>
        <p:spPr>
          <a:xfrm>
            <a:off x="640080" y="3712464"/>
            <a:ext cx="7863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Every screen reuses the same two canvas components, so mouse, touch, keyboard and screen-reader support were written once. </a:t>
            </a:r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The engine, store and rules were untouched: the twist changed how actions are triggered, not what they do. </a:t>
            </a:r>
            <a:pPr indent="0" marL="0">
              <a:buNone/>
            </a:pPr>
            <a:r>
              <a:rPr lang="en-US" sz="1150" dirty="0">
                <a:solidFill>
                  <a:schemeClr val="bg2"/>
                </a:solidFill>
              </a:rPr>
              <a:t>Data is validated on import and on load, so a bad file can never blank the app.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build went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2103120"/>
            <a:ext cx="768096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7552" y="1993392"/>
            <a:ext cx="219456" cy="219456"/>
          </a:xfrm>
          <a:prstGeom prst="ellipse">
            <a:avLst/>
          </a:prstGeom>
          <a:solidFill>
            <a:schemeClr val="bg2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4173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12:00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39572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Build starts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852928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config-driven plan from Round 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359152" y="1993392"/>
            <a:ext cx="219456" cy="219456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874520" y="14173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13:24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874520" y="239572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First release live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874520" y="2852928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archive, bury, advisor, timeline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730752" y="1993392"/>
            <a:ext cx="219456" cy="219456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46120" y="14173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14:16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246120" y="239572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Hardened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246120" y="2852928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two code reviews, 14 fixes, a11y AA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102352" y="1993392"/>
            <a:ext cx="219456" cy="219456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17720" y="14173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18:00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617720" y="239572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Twist announced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617720" y="2852928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the Canvas Protocol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73952" y="1993392"/>
            <a:ext cx="219456" cy="219456"/>
          </a:xfrm>
          <a:prstGeom prst="ellipse">
            <a:avLst/>
          </a:prstGeom>
          <a:solidFill>
            <a:schemeClr val="accent4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89320" y="14173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18:28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5989320" y="239572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All actions are drags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989320" y="2852928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four parts, tested live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845552" y="1993392"/>
            <a:ext cx="219456" cy="219456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60920" y="14173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19:24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7360920" y="239572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Graveyard Canvas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360920" y="2852928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spatial home, zones, effects</a:t>
            </a:r>
            <a:endParaRPr lang="en-US" sz="1000" dirty="0"/>
          </a:p>
        </p:txBody>
      </p:sp>
      <p:sp>
        <p:nvSpPr>
          <p:cNvPr id="28" name="Checkpoint note"/>
          <p:cNvSpPr/>
          <p:nvPr/>
        </p:nvSpPr>
        <p:spPr>
          <a:xfrm>
            <a:off x="457200" y="3749040"/>
            <a:ext cx="8229600" cy="777240"/>
          </a:xfrm>
          <a:prstGeom prst="roundRect">
            <a:avLst>
              <a:gd name="adj" fmla="val 11765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0080" y="3822192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Every checkpoint was submitted with the same repo. Every commit deployed itself to the live site in about 20 seconds, and every change was checked by tests in a real browser.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0" y="457200"/>
            <a:ext cx="731520" cy="77724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3" name="Image 0" descr="Tombstone cros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70832" y="612648"/>
            <a:ext cx="402336" cy="402336"/>
          </a:xfrm>
          <a:prstGeom prst="rect">
            <a:avLst/>
          </a:prstGeom>
        </p:spPr>
      </p:pic>
      <p:sp>
        <p:nvSpPr>
          <p:cNvPr id="4" name="Closing title"/>
          <p:cNvSpPr txBox="1"/>
          <p:nvPr/>
        </p:nvSpPr>
        <p:spPr>
          <a:xfrm>
            <a:off x="365760" y="14173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abandoned project deserves a second look</a:t>
            </a:r>
            <a:endParaRPr lang="en-US" sz="2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1097280" y="228600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Understand it, decide its fate, and give the good ideas another chance. And when the rules change, evolve instead of starting over.</a:t>
            </a:r>
            <a:endParaRPr lang="en-US" sz="1500" dirty="0"/>
          </a:p>
        </p:txBody>
      </p:sp>
      <p:sp>
        <p:nvSpPr>
          <p:cNvPr id="6" name="Links card"/>
          <p:cNvSpPr/>
          <p:nvPr/>
        </p:nvSpPr>
        <p:spPr>
          <a:xfrm>
            <a:off x="1463040" y="3246120"/>
            <a:ext cx="6217920" cy="960120"/>
          </a:xfrm>
          <a:prstGeom prst="roundRect">
            <a:avLst>
              <a:gd name="adj" fmla="val 9524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645920" y="3337560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bg2"/>
                </a:solidFill>
              </a:rPr>
              <a:t>Try it live  </a:t>
            </a:r>
            <a:pPr algn="ctr" indent="0" marL="0">
              <a:spcAft>
                <a:spcPts val="400"/>
              </a:spcAft>
              <a:buNone/>
            </a:pPr>
            <a:r>
              <a:rPr lang="en-US" sz="1200" b="1" u="sng" dirty="0">
                <a:solidFill>
                  <a:schemeClr val="accent1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project-graveyard-codevariant.vercel.app</a:t>
            </a:r>
            <a:endParaRPr lang="en-US" sz="12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bg2"/>
                </a:solidFill>
              </a:rPr>
              <a:t>Source code  </a:t>
            </a:r>
            <a:pPr algn="ctr" indent="0" marL="0">
              <a:spcAft>
                <a:spcPts val="400"/>
              </a:spcAft>
              <a:buNone/>
            </a:pPr>
            <a:r>
              <a:rPr lang="en-US" sz="1200" u="sng" dirty="0">
                <a:solidFill>
                  <a:schemeClr val="accent1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github.com/erajneeshverma/rajnishkver-CodeVarient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4434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Thank you · Rajnish Kumar Verma</a:t>
            </a:r>
            <a:endParaRPr lang="en-US" sz="1200" dirty="0"/>
          </a:p>
        </p:txBody>
      </p:sp>
      <p:sp>
        <p:nvSpPr>
          <p:cNvPr id="10" name="Text 0"/>
          <p:cNvSpPr/>
          <p:nvPr>
            <p:ph idx="100" type="title" hasCustomPrompt="1"/>
          </p:nvPr>
        </p:nvSpPr>
        <p:spPr>
          <a:xfrm>
            <a:off x="640080" y="141732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ject Graveyard">
  <a:themeElements>
    <a:clrScheme name="Project Graveyard">
      <a:dk1>
        <a:srgbClr val="16181F"/>
      </a:dk1>
      <a:lt1>
        <a:srgbClr val="EEEAE2"/>
      </a:lt1>
      <a:dk2>
        <a:srgbClr val="222531"/>
      </a:dk2>
      <a:lt2>
        <a:srgbClr val="9AA0B4"/>
      </a:lt2>
      <a:accent1>
        <a:srgbClr val="F2B544"/>
      </a:accent1>
      <a:accent2>
        <a:srgbClr val="8CC084"/>
      </a:accent2>
      <a:accent3>
        <a:srgbClr val="D88A8A"/>
      </a:accent3>
      <a:accent4>
        <a:srgbClr val="B59BD9"/>
      </a:accent4>
      <a:accent5>
        <a:srgbClr val="7FA7D9"/>
      </a:accent5>
      <a:accent6>
        <a:srgbClr val="2E3242"/>
      </a:accent6>
      <a:hlink>
        <a:srgbClr val="F2B544"/>
      </a:hlink>
      <a:folHlink>
        <a:srgbClr val="D9A13C"/>
      </a:folHlink>
    </a:clrScheme>
    <a:fontScheme name="Project Graveyard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Project Graveyard: final submission</dc:title>
  <dc:subject>Code Variant Build 01, Problem Statement 05</dc:subject>
  <dc:creator>Rajnish Kumar Verma</dc:creator>
  <cp:lastModifiedBy>Rajnish Kumar Verma</cp:lastModifiedBy>
  <cp:revision>1</cp:revision>
  <dcterms:created xsi:type="dcterms:W3CDTF">2026-10-24T15:45:09Z</dcterms:created>
  <dcterms:modified xsi:type="dcterms:W3CDTF">2026-10-24T15:45:09Z</dcterms:modified>
</cp:coreProperties>
</file>